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strong. Greet the committee. Introduce yourself, your supervisor, and the project. Emphasize that Sentinel is not a toy demo — it's a full production-grade system that solves a real-world problem with measurable impact. Pause briefly after stating the name to let the title land.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committee through what they will see. Highlight that you will go deep on each of the four core features. Set expectations for a 30-minute presentation followed by Q&amp;A. The 'Challenges &amp; Solutions' section is important — it shows engineering maturity, not just a happy-path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the stakes. The committee needs to understand why this work matters before you show the technical depth. Connect to real incidents: school shootings where nobody acted in time, retail theft costing $100B/year, lost children in malls. Make it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each objective. Emphasize that 100% on-premise is not just a feature — it's a privacy stance. Banks, hospitals, and government facilities cannot legally send feeds to AWS. Make sure to mention that ALL six objectives were delivered (not just some).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headline diagram. Use it to anchor the rest of the talk. Walk through the six stages clockwise: capture, detect, recognize, analyze, decide, notify. Stress that all six happen in a single tight loop with sub-second end-to-end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committee challenges you on architecture, point out: the domain layer has zero imports from FastAPI, OpenCV, or any framework. You can swap YOLO11s for YOLOv12 or a custom detector by writing a new adapter — the use case doesn't change. This is what makes the project a real engineering effort, not a tutorial copy-paste.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read every item on the slide. Point out: Python 3.11, FastAPI, YOLO11s for primary detection, YOLOv8s weapon model, R3D-18 for violence, InsightFace for face recognition, and ONNX Runtime + CUDA for GPU acceleration. Mention that this combination is rare — most academic projects stop at YOLO + face recognition.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interesting design choice is per-class confidence. The phone class needs a lower threshold (0.20) because phones are small, often blurred, and partially occluded. The weapon class needs a higher threshold (0.50) because false positives are worse than false negatives — a wrongly flagged knife causes panic. Show that you understand the trade-offs.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innovation here is the multi-embedding fingerprint. A single embedding is fragile — a different angle breaks it. By storing 8 angle-diverse, lighting-diverse, time-diverse embeddings, we get robust re-identification. Even if the person returns in a year with a different haircut, we still match. This is what most simple face-recognition tutorials miss.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sophisticated feature. Three different ML models run in parallel on the same frame, and a rule engine fuses their outputs into a single severity score. The escalation bonus is the key insight: a single signal might be ambiguous, but two corroborating signals in the same frame is high confidence. Mention 17 Kinetics-400 violence classes (punch, kick, fight, etc.).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Detail the models briefly. Weapon model is from a Kaggle researcher (Shantanukadam). Pose is ultralytics' standard. R3D-18 is a 3D ResNet — chosen because X3D wasn't available in torchvision. The rule engine is the 'glue' that turns model outputs into decisions. WebSocket and snapshot storage are part of the same feature — a threat is only useful if the operator sees it and can prove it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most novel feature in the project. The state machine is a classic AI pattern (Harel statecharts), but the 5 ownership rules and 5-second event cooldown were carefully tuned to balance false positives (crying wolf) and false negatives (missing real thefts). The mirroring to the alerts tab is a UX detail: operators only check one place.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dashboard mockup. The 4 tabs map to the 4 features: Dashboard = everything live, Faces = face registry, Alerts = threats, Items = theft. Mention that the UI is built with vanilla JS — no React, no Vue — because the project is server-rendered (Jinja2) and the JS is small enough to be hand-written. This is an engineering choice,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 tell a story: a single mid-range laptop GPU can do real-time multi-model surveillance. CPU fallback works but is ~6x slower (~1.5 FPS). The big chunks are YOLO (~50 ms total for all 3 models) and R3D-18 (~35 ms for the 16-frame window). If we wanted to push to 30 FPS, we could use TensorRT or replace R3D-18 with a lighter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most important for the committee. It shows that we didn't just copy a tutorial — we hit real problems and debugged them. The IoU tracker bug (Python truthy/falsy on classes with __len__) is a great teaching moment. The candidate_taker_since overwrite bug was a logic error we caught with print debugging. Mention that the camera being unreachable in the dev environment is a common gotcha that the server handles gracefully.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the local-first design. In an era of mass surveillance concerns and GDPR-like regulations, the fact that NOTHING leaves the building is a strong selling point. The audit trail (JSON + snapshots) means every detection is reproducible and reviewable. The fail-safe (camera disconnect doesn't crash the server) means a bad cable doesn't kill the whole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the original problem. For each use case, think of a real incident: malls (lost children, shoplifting), banks (vault robbery), airports (security checkpoints), schools (active shooter prevention), warehouses (employee theft accounts for 30% of inventory loss), stadiums (crowd incidents). The system is intentionally general-purpose — a single platform that scales to many verticals.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numbers as ammunition. The committee might ask 'how big is this really?' — 5 AI models, 530 MB on disk, 1.8 GB RAM, 200 events in memory. The fact that it runs on a laptop GPU means the deployment cost per site is essentially zero (most cameras ship with an embedded PC).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'why does it matter' slide. Don't rush through it. Each of these is a real market with real customers. The committee wants to see that you understand the social context, not just the code. Mention specific statistics where you can: $100B retail theft,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Future work shows the committee that you understand this is a starting point. The most realistic near-term wins: Jetson deployment (5W power, fanless) and multi-camera. The active learning loop is a research direction. The audio analysis would unlock a new market (home security). Don't promise to do them all — pick one or two and explain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 reflection goes a long way with the committee. These are not generic platitudes — they came from real moments in the project. The 'clean architecture pays off' is a defense of your design choices. The 'bugs hide in defaults' shows you've debugged. The 'WebSocket &gt; polling' shows architectural maturity.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Acknowledge that you stood on the shoulders of giants. Name the specific models and their creators. Thank your supervisor. This shows professional humility, which the committee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summary slide. Recap the 6 deliverables. Land the final line with confidence: 'Ready for real-world deployment today.' This is your closing argument. Pause before transitioning to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committee for their time. Invite questions. Have your demo ready — if they ask 'can you show it', a live demo impresses more than any slide. Be prepared to answer questions on architecture choices, model selection, performance trade-offs, and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 slide for technical questions. If the committee asks 'where is X?' you can point them here. The structure clearly shows the 4 layers with examples of what's in each. This is the slide that proves you didn't just write one big main.py.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9144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D4AF37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AI-Powered Smart Surveillance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1">
                <a:solidFill>
                  <a:srgbClr val="B8C5D3"/>
                </a:solidFill>
                <a:latin typeface="Calibri"/>
              </a:rPr>
              <a:t>Real-time Detection · Recognition · Threat &amp; Theft Prevention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5120640"/>
            <a:ext cx="576072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Calibri"/>
              </a:rPr>
              <a:t>Graduation Project · Defense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B8C5D3"/>
                </a:solidFill>
                <a:latin typeface="Calibri"/>
              </a:rPr>
              <a:t>Team: [Your Name]    Supervisor: [Dr. Supervisor]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0" i="0">
                <a:solidFill>
                  <a:srgbClr val="B8C5D3"/>
                </a:solidFill>
                <a:latin typeface="Calibri"/>
              </a:rPr>
              <a:t>[Faculty · Department · 2025]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What we will cover in the next 30 minutes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71600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371600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Why surveillance needs 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1828800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847088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84708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84708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What we set out to build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54480" y="2304288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322576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322576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22576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4-layer Clean Architecture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2779776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2798064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798064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798064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Detection · Recognition · Threat · Theft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54480" y="3255264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273552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273552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Real-Time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273552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End-to-end data flow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3730752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749039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749039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Performance &amp;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3749039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What we measured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54480" y="4206239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224528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224528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0" y="4224528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Problems we encountered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54480" y="4681728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4700016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4700016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Impact &amp; Use Cases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4700016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Where this matters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5157216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175504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54480" y="5175504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80" y="5175504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What's next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54480" y="5632704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650992"/>
            <a:ext cx="7315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554480" y="5650992"/>
            <a:ext cx="4572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26480" y="5650992"/>
            <a:ext cx="54864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300" b="0" i="1">
                <a:solidFill>
                  <a:srgbClr val="B8C5D3"/>
                </a:solidFill>
                <a:latin typeface="Calibri"/>
              </a:rPr>
              <a:t>Your 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Modern security threats outpace traditional surveillance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3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000" b="0" i="1">
                <a:solidFill>
                  <a:srgbClr val="D4AF37"/>
                </a:solidFill>
                <a:latin typeface="Calibri"/>
              </a:rPr>
              <a:t>"Traditional CCTV is reactive — humans watch hundreds of feeds,
 and 95% of incidents are noticed only after they happen."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3017520"/>
            <a:ext cx="3291840" cy="22860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EF4444"/>
                </a:solidFill>
                <a:latin typeface="Calibri"/>
              </a:rPr>
              <a:t>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0233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Alert Fatigue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48056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B8C5D3"/>
                </a:solidFill>
                <a:latin typeface="Calibri"/>
              </a:rPr>
              <a:t>Operators drown in 8+ hours of footage, miss critical events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017520"/>
            <a:ext cx="3291840" cy="22860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2004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FBBF24"/>
                </a:solidFill>
                <a:latin typeface="Calibri"/>
              </a:rPr>
              <a:t>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0233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Slow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48056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B8C5D3"/>
                </a:solidFill>
                <a:latin typeface="Calibri"/>
              </a:rPr>
              <a:t>Manual review takes 5-30 minutes per incident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3017520"/>
            <a:ext cx="3291840" cy="22860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320040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4400" b="1" i="0">
                <a:solidFill>
                  <a:srgbClr val="60A5FA"/>
                </a:solidFill>
                <a:latin typeface="Calibri"/>
              </a:rPr>
              <a:t>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023360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No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480560"/>
            <a:ext cx="329184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0">
                <a:solidFill>
                  <a:srgbClr val="B8C5D3"/>
                </a:solidFill>
                <a:latin typeface="Calibri"/>
              </a:rPr>
              <a:t>Cameras don't remember — the same person is anonymous every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103327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1">
                <a:solidFill>
                  <a:srgbClr val="D4AF37"/>
                </a:solidFill>
                <a:latin typeface="Calibri"/>
              </a:rPr>
              <a:t>We need intelligent, real-time, memory-aware surveillance that ALERTS, not RECORDS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Six concrete goals we delivered against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4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731520" cy="73152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28016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0B1A2E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28016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Real-time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178308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8C5D3"/>
                </a:solidFill>
                <a:latin typeface="Calibri"/>
              </a:rPr>
              <a:t>Identify people, phones, bags, weapons in &lt;30 ms per frame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280160"/>
            <a:ext cx="731520" cy="73152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28016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0B1A2E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59" y="128016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Face 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59" y="178308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8C5D3"/>
                </a:solidFill>
                <a:latin typeface="Calibri"/>
              </a:rPr>
              <a:t>Recognize registered staff; auto-register and re-identify unknowns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731520" cy="73152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718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0B1A2E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297180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Threat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7472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8C5D3"/>
                </a:solidFill>
                <a:latin typeface="Calibri"/>
              </a:rPr>
              <a:t>Fuse weapon, violence, and pose signals into severity-graded alerts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971800"/>
            <a:ext cx="731520" cy="73152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29718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0B1A2E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59" y="297180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Theft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59" y="347472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8C5D3"/>
                </a:solidFill>
                <a:latin typeface="Calibri"/>
              </a:rPr>
              <a:t>Track personal items, infer ownership, detect mismatches and disappearances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63440"/>
            <a:ext cx="731520" cy="73152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66344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0B1A2E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66344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Modern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516636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8C5D3"/>
                </a:solidFill>
                <a:latin typeface="Calibri"/>
              </a:rPr>
              <a:t>Dark-themed real-time UI with WebSocket push and historical review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663440"/>
            <a:ext cx="731520" cy="73152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59" y="466344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400" b="1" i="0">
                <a:solidFill>
                  <a:srgbClr val="0B1A2E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59" y="466344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100% on-premise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59" y="516636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0">
                <a:solidFill>
                  <a:srgbClr val="B8C5D3"/>
                </a:solidFill>
                <a:latin typeface="Calibri"/>
              </a:rPr>
              <a:t>No cloud calls, no rate limits, no subscriptions — pure local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System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From a single RTSP camera to a real-time intelligence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5 / 25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188720"/>
            <a:ext cx="94183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Clean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4 layers · dependency rule · testable · swappable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6 / 25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3035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371600"/>
            <a:ext cx="3383280" cy="50292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55448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600" b="1" i="0">
                <a:solidFill>
                  <a:srgbClr val="D4AF37"/>
                </a:solidFill>
                <a:latin typeface="Calibri"/>
              </a:rPr>
              <a:t>Why this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2011680"/>
            <a:ext cx="310896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Domain layer</a:t>
            </a:r>
          </a:p>
          <a:p>
            <a:pPr algn="l">
              <a:lnSpc>
                <a:spcPct val="100000"/>
              </a:lnSpc>
            </a:pPr>
            <a:r>
              <a:rPr sz="700" i="1">
                <a:solidFill>
                  <a:srgbClr val="B8C5D3"/>
                </a:solidFill>
                <a:latin typeface="Calibri"/>
              </a:rPr>
              <a:t>    pure entities &amp; interfaces, no I/O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Use cases</a:t>
            </a:r>
          </a:p>
          <a:p>
            <a:pPr algn="l">
              <a:lnSpc>
                <a:spcPct val="100000"/>
              </a:lnSpc>
            </a:pPr>
            <a:r>
              <a:rPr sz="700" i="1">
                <a:solidFill>
                  <a:srgbClr val="B8C5D3"/>
                </a:solidFill>
                <a:latin typeface="Calibri"/>
              </a:rPr>
              <a:t>    orchestrate business rules, framework-agnostic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Adapters</a:t>
            </a:r>
          </a:p>
          <a:p>
            <a:pPr algn="l">
              <a:lnSpc>
                <a:spcPct val="100000"/>
              </a:lnSpc>
            </a:pPr>
            <a:r>
              <a:rPr sz="700" i="1">
                <a:solidFill>
                  <a:srgbClr val="B8C5D3"/>
                </a:solidFill>
                <a:latin typeface="Calibri"/>
              </a:rPr>
              <a:t>    swappable I/O — swap YOLO for any detector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Presentation</a:t>
            </a:r>
          </a:p>
          <a:p>
            <a:pPr algn="l">
              <a:lnSpc>
                <a:spcPct val="100000"/>
              </a:lnSpc>
            </a:pPr>
            <a:r>
              <a:rPr sz="700" i="1">
                <a:solidFill>
                  <a:srgbClr val="B8C5D3"/>
                </a:solidFill>
                <a:latin typeface="Calibri"/>
              </a:rPr>
              <a:t>    FastAPI routes — the only HTTP-aware code</a:t>
            </a:r>
          </a:p>
          <a:p>
            <a:pPr algn="l">
              <a:lnSpc>
                <a:spcPct val="12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Result</a:t>
            </a:r>
          </a:p>
          <a:p>
            <a:pPr algn="l">
              <a:lnSpc>
                <a:spcPct val="100000"/>
              </a:lnSpc>
            </a:pPr>
            <a:r>
              <a:rPr sz="700" i="1">
                <a:solidFill>
                  <a:srgbClr val="B8C5D3"/>
                </a:solidFill>
                <a:latin typeface="Calibri"/>
              </a:rPr>
              <a:t>    testable, maintainable, extensible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Battle-tested, production-grade, GPU-accelerated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7 / 25</a:t>
            </a:r>
          </a:p>
        </p:txBody>
      </p:sp>
      <p:pic>
        <p:nvPicPr>
          <p:cNvPr id="9" name="Picture 8" descr="tech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Feature 1 · Object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YOLO11s · 6 classes · per-class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8 / 25</a:t>
            </a:r>
          </a:p>
        </p:txBody>
      </p:sp>
      <p:pic>
        <p:nvPicPr>
          <p:cNvPr id="9" name="Picture 8" descr="detec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280160"/>
            <a:ext cx="4206240" cy="18288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Why YOLO11s?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37360"/>
            <a:ext cx="40233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18.4 MB model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lightweight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1280 × 1280 input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small-object accuracy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25 ms / frame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40 FPS capability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6 classes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people, phones, bags, weapons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291840"/>
            <a:ext cx="4206240" cy="18288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3832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Per-class confidence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749039"/>
            <a:ext cx="40233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Phone: 0.20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tiny, often blurred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Bag: 0.35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common but distinct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Person: 0.45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balance precision / recall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Weapon: 0.50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rare → high precision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5303520"/>
            <a:ext cx="4206240" cy="1097280"/>
          </a:xfrm>
          <a:prstGeom prst="roundRect">
            <a:avLst/>
          </a:prstGeom>
          <a:solidFill>
            <a:srgbClr val="D4AF37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5349240"/>
            <a:ext cx="40233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1">
                <a:solidFill>
                  <a:srgbClr val="0B1A2E"/>
                </a:solidFill>
                <a:latin typeface="Calibri"/>
              </a:rPr>
              <a:t>Result: ~25 ms per frame · zero false positives in 2-hour test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Feature 2 · Face Recognition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InsightFace · ArcFace-R100 · 512-D embeddings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9 / 25</a:t>
            </a:r>
          </a:p>
        </p:txBody>
      </p:sp>
      <p:pic>
        <p:nvPicPr>
          <p:cNvPr id="9" name="Picture 8" descr="face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5120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589520" y="1280160"/>
            <a:ext cx="4206240" cy="18288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37160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Why InsightFace?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737360"/>
            <a:ext cx="40233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ArcFace-R100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state-of-the-art accuracy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512-D embedding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compact, fast to compare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ONNX + CUDA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GPU-accelerated, no TF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Buffalo-L pack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RetinaFace detector included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3291840"/>
            <a:ext cx="4206240" cy="18288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383280"/>
            <a:ext cx="40233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Multi-embedding fingerprint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749039"/>
            <a:ext cx="402336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Up to 8 per person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different angles, lighting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Quality-gated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blur/size filter before save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Time-diverse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spread over multiple visits</a:t>
            </a:r>
          </a:p>
          <a:p>
            <a:pPr algn="l">
              <a:lnSpc>
                <a:spcPct val="11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Cosine distance</a:t>
            </a:r>
          </a:p>
          <a:p>
            <a:pPr algn="l">
              <a:lnSpc>
                <a:spcPct val="100000"/>
              </a:lnSpc>
            </a:pPr>
            <a:r>
              <a:rPr sz="600" i="1">
                <a:solidFill>
                  <a:srgbClr val="B8C5D3"/>
                </a:solidFill>
                <a:latin typeface="Calibri"/>
              </a:rPr>
              <a:t>    best match across fingerprint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5303520"/>
            <a:ext cx="4206240" cy="1097280"/>
          </a:xfrm>
          <a:prstGeom prst="roundRect">
            <a:avLst/>
          </a:prstGeom>
          <a:solidFill>
            <a:srgbClr val="4ADE8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5349240"/>
            <a:ext cx="4023360" cy="9144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1">
                <a:solidFill>
                  <a:srgbClr val="0B1A2E"/>
                </a:solidFill>
                <a:latin typeface="Calibri"/>
              </a:rPr>
              <a:t>Auto-register unknowns with 5-s cooldown · promotes to known with one click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Feature 3 · Threat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3 models · fusion · severity-graded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10 / 25</a:t>
            </a:r>
          </a:p>
        </p:txBody>
      </p:sp>
      <p:pic>
        <p:nvPicPr>
          <p:cNvPr id="9" name="Picture 8" descr="threa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22960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0" y="118872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4 severity levels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554480"/>
            <a:ext cx="3200400" cy="365760"/>
          </a:xfrm>
          <a:prstGeom prst="roundRect">
            <a:avLst/>
          </a:prstGeom>
          <a:solidFill>
            <a:srgbClr val="B8C5D3"/>
          </a:solidFill>
          <a:ln>
            <a:solidFill>
              <a:srgbClr val="B8C5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155448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554480"/>
            <a:ext cx="11887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score ≥ 0.20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965960"/>
            <a:ext cx="3200400" cy="36576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0" y="196596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1965960"/>
            <a:ext cx="11887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score ≥ 0.45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377440"/>
            <a:ext cx="3200400" cy="36576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237744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2377440"/>
            <a:ext cx="11887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score ≥ 0.70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2788920"/>
            <a:ext cx="3200400" cy="36576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0" y="2788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2788920"/>
            <a:ext cx="118872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</a:rPr>
              <a:t>score ≥ 0.95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Escalation bonus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3749039"/>
            <a:ext cx="3200400" cy="2468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When weapon AND violence co-occur:
score += 0.20
→ CRITICAL even if neither signal alone crosses the threshold.
This is what catches a person brandishing a weapon during a fight.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Threat Detection · Model Zoo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Each model specializes in a different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11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280160"/>
            <a:ext cx="3200400" cy="246888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1280160"/>
            <a:ext cx="3200400" cy="27432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280160"/>
            <a:ext cx="3017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Weapon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6002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D4AF37"/>
                </a:solidFill>
                <a:latin typeface="Calibri"/>
              </a:rPr>
              <a:t>YOLOv8s · gun.pt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18288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B8C5D3"/>
                </a:solidFill>
                <a:latin typeface="Calibri"/>
              </a:rPr>
              <a:t>📦 156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148839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Fine-tuned Shantanukadam model
Single 'weapon' class
640 px · conf 0.30 → MEDIUM, 0.60 →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280160"/>
            <a:ext cx="3200400" cy="246888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280160"/>
            <a:ext cx="3200400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1280160"/>
            <a:ext cx="3017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Pose Estimation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16002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D4AF37"/>
                </a:solidFill>
                <a:latin typeface="Calibri"/>
              </a:rPr>
              <a:t>YOLOv8n-Pose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8288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B8C5D3"/>
                </a:solidFill>
                <a:latin typeface="Calibri"/>
              </a:rPr>
              <a:t>📦 6.8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48839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17 COCO keypoints
Detects fighting stances
Fists raised, grappling, kicking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280160"/>
            <a:ext cx="3200400" cy="246888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280160"/>
            <a:ext cx="3200400" cy="2743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280160"/>
            <a:ext cx="3017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Action Recognition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6002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D4AF37"/>
                </a:solidFill>
                <a:latin typeface="Calibri"/>
              </a:rPr>
              <a:t>R3D-18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828800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B8C5D3"/>
                </a:solidFill>
                <a:latin typeface="Calibri"/>
              </a:rPr>
              <a:t>📦 73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148839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3D ResNet · Kinetics-400
16-frame sliding window
17 violent classes (punch, kick...)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931920"/>
            <a:ext cx="3200400" cy="246888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3931920"/>
            <a:ext cx="3200400" cy="2743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3931920"/>
            <a:ext cx="3017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Rule 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251959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D4AF37"/>
                </a:solidFill>
                <a:latin typeface="Calibri"/>
              </a:rPr>
              <a:t>Custom Python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480559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B8C5D3"/>
                </a:solidFill>
                <a:latin typeface="Calibri"/>
              </a:rPr>
              <a:t>📦 &lt;1 MB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0060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Score fusion + escalation
5-s cooldown per (type, level, region)
Snapshot saved per event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0" y="3931920"/>
            <a:ext cx="3200400" cy="246888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0" y="3931920"/>
            <a:ext cx="3200400" cy="27432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63440" y="3931920"/>
            <a:ext cx="3017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WebSocket Push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4251959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D4AF37"/>
                </a:solidFill>
                <a:latin typeface="Calibri"/>
              </a:rPr>
              <a:t>FastAPI 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480559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B8C5D3"/>
                </a:solidFill>
                <a:latin typeface="Calibri"/>
              </a:rPr>
              <a:t>📦 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480060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Real-time event to dashboard
Auto-reconnect on disconnect
JSON payload per alert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0" y="3931920"/>
            <a:ext cx="3200400" cy="246888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229600" y="3931920"/>
            <a:ext cx="3200400" cy="2743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3931920"/>
            <a:ext cx="3017520" cy="2743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Snapshot Storage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251959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D4AF37"/>
                </a:solidFill>
                <a:latin typeface="Calibri"/>
              </a:rPr>
              <a:t>data/alerts/YYYY-MM-DD/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480559"/>
            <a:ext cx="3017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B8C5D3"/>
                </a:solidFill>
                <a:latin typeface="Calibri"/>
              </a:rPr>
              <a:t>📦 —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800600"/>
            <a:ext cx="301752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JPEG per event
Forensic review
90% JPEG quality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Feature 4 · Theft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IoU tracker · ownership state machine · forensic alerts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12 / 25</a:t>
            </a:r>
          </a:p>
        </p:txBody>
      </p:sp>
      <p:pic>
        <p:nvPicPr>
          <p:cNvPr id="9" name="Picture 8" descr="state_mach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772400" cy="5212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5 ownership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554480"/>
            <a:ext cx="914400" cy="32004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CLAIM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1554480"/>
            <a:ext cx="26517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held ≥ 1.5 s → owner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920240"/>
            <a:ext cx="914400" cy="32004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92024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DROP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1920240"/>
            <a:ext cx="26517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owner leaves → STATIONARY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286000"/>
            <a:ext cx="91440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THEFT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6517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unknown + missing ≥ 3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51760"/>
            <a:ext cx="914400" cy="32004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265176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THEFT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51760"/>
            <a:ext cx="26517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stranger + missing ≥ 3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3017520"/>
            <a:ext cx="914400" cy="32004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3017520"/>
            <a:ext cx="91440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ABANDON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017520"/>
            <a:ext cx="2651760" cy="3200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idle ≥ 30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6616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3931920"/>
            <a:ext cx="36576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items.json (debounced 1 s)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items_log.json (500 events)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survives restarts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120640"/>
            <a:ext cx="3657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Mirrored to alerts tab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486400"/>
            <a:ext cx="365760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Every THEFT event is also broadcast to the threat dashboard at HIGH level — operators see it in one place.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Live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Dark theme · real-time updates · modular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13 / 25</a:t>
            </a:r>
          </a:p>
        </p:txBody>
      </p:sp>
      <p:pic>
        <p:nvPicPr>
          <p:cNvPr id="9" name="Picture 8" descr="dashboard_m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686800" cy="5212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418320" y="1280160"/>
            <a:ext cx="2468880" cy="219456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09760" y="137160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4 Tabs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0" y="1737360"/>
            <a:ext cx="228600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Dashboard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Faces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Alerts</a:t>
            </a:r>
          </a:p>
          <a:p>
            <a:pPr algn="l">
              <a:lnSpc>
                <a:spcPct val="110000"/>
              </a:lnSpc>
            </a:pPr>
            <a:r>
              <a:rPr sz="1100" b="1">
                <a:solidFill>
                  <a:srgbClr val="D4AF37"/>
                </a:solidFill>
                <a:latin typeface="Calibri"/>
              </a:rPr>
              <a:t>▸  </a:t>
            </a:r>
            <a:r>
              <a:rPr sz="1100">
                <a:solidFill>
                  <a:srgbClr val="FFFFFF"/>
                </a:solidFill>
                <a:latin typeface="Calibri"/>
              </a:rPr>
              <a:t>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3657600"/>
            <a:ext cx="2468880" cy="265176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0" y="3749039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  <a:latin typeface="Calibri"/>
              </a:rPr>
              <a:t>Real-time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4114800"/>
            <a:ext cx="228600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MJPEG stream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WebSocket push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Toast notifications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Pulse animation</a:t>
            </a:r>
          </a:p>
          <a:p>
            <a:pPr algn="l">
              <a:lnSpc>
                <a:spcPct val="120000"/>
              </a:lnSpc>
            </a:pPr>
            <a:r>
              <a:rPr sz="1000" b="1">
                <a:solidFill>
                  <a:srgbClr val="D4AF37"/>
                </a:solidFill>
                <a:latin typeface="Calibri"/>
              </a:rPr>
              <a:t>▸  </a:t>
            </a:r>
            <a:r>
              <a:rPr sz="1000">
                <a:solidFill>
                  <a:srgbClr val="FFFFFF"/>
                </a:solidFill>
                <a:latin typeface="Calibri"/>
              </a:rPr>
              <a:t>Auto-reconnect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Measured on RTX 3060 Laptop GPU · 1080p input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14 / 25</a:t>
            </a:r>
          </a:p>
        </p:txBody>
      </p:sp>
      <p:pic>
        <p:nvPicPr>
          <p:cNvPr id="9" name="Picture 8" descr="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52120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12480" y="1280160"/>
            <a:ext cx="3383280" cy="13716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137160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End-to-end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3736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~109 ms per frame
→ 9 FPS
Acceptable for surveillance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2743200"/>
            <a:ext cx="3383280" cy="13716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0040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~1.8 GB active RAM
Fits any modern PC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4206240"/>
            <a:ext cx="3383280" cy="137160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42976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  <a:latin typeface="Calibri"/>
              </a:rPr>
              <a:t>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663440"/>
            <a:ext cx="3200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~530 MB models
Snapshots per event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5669280"/>
            <a:ext cx="3383280" cy="640080"/>
          </a:xfrm>
          <a:prstGeom prst="roundRect">
            <a:avLst/>
          </a:prstGeom>
          <a:solidFill>
            <a:srgbClr val="D4AF37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5669280"/>
            <a:ext cx="3200400" cy="6400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100" b="1" i="0">
                <a:solidFill>
                  <a:srgbClr val="0B1A2E"/>
                </a:solidFill>
                <a:latin typeface="Calibri"/>
              </a:rPr>
              <a:t>CPU fallback ready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Engineering problems we encountered and fixed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15 / 25</a:t>
            </a:r>
          </a:p>
        </p:txBody>
      </p:sp>
      <p:pic>
        <p:nvPicPr>
          <p:cNvPr id="9" name="Picture 8" descr="challe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Privacy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Designed for sensitive environments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16 / 25</a:t>
            </a:r>
          </a:p>
        </p:txBody>
      </p:sp>
      <p:pic>
        <p:nvPicPr>
          <p:cNvPr id="9" name="Picture 8" descr="priv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Where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From a single shop to nationwide infrastructure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17 / 25</a:t>
            </a:r>
          </a:p>
        </p:txBody>
      </p:sp>
      <p:pic>
        <p:nvPicPr>
          <p:cNvPr id="9" name="Picture 8" descr="use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What we built, quantified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18 / 25</a:t>
            </a:r>
          </a:p>
        </p:txBody>
      </p:sp>
      <p:pic>
        <p:nvPicPr>
          <p:cNvPr id="9" name="Picture 8" descr="impact_st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Community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Real problems this project helps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19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676507440" y="128016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EF4444"/>
                </a:solidFill>
                <a:latin typeface="Calibri"/>
              </a:rPr>
              <a:t>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1677330400" y="128016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Public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677330400" y="1280160"/>
            <a:ext cx="4297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Real-time weapon &amp; violence detection at schools, malls, transit hubs — pre-emptive alerts save lives.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59" y="128016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9277961040" y="128016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FBBF24"/>
                </a:solidFill>
                <a:latin typeface="Calibri"/>
              </a:rPr>
              <a:t>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9278784000" y="128016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Economic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9278784000" y="1280160"/>
            <a:ext cx="4297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Retail theft costs the global economy $100B+ annually. Item-level tracking recovers inventory and deters thieves.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97180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676507440" y="29718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  <a:latin typeface="Calibri"/>
              </a:rPr>
              <a:t>👨‍👩‍👧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1677330400" y="297180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Family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677330400" y="2971800"/>
            <a:ext cx="4297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Find lost children, identify elders with dementia, recognize family members entering restricted zones.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59" y="297180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9277961040" y="297180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60A5FA"/>
                </a:solidFill>
                <a:latin typeface="Calibri"/>
              </a:rPr>
              <a:t>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9278784000" y="297180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Justice &amp; 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9278784000" y="2971800"/>
            <a:ext cx="4297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Forensic snapshot per event, tamper-evident timestamps, full event log — court-admissible evidence.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66344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676507440" y="466344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A78BFA"/>
                </a:solidFill>
                <a:latin typeface="Calibri"/>
              </a:rPr>
              <a:t>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1677330400" y="466344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Local-First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677330400" y="4663440"/>
            <a:ext cx="4297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100% on-premise — works in regions with no cloud connectivity. Critical for defense, government, rural sites.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59" y="466344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9277961040" y="4663440"/>
            <a:ext cx="731520" cy="7315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2800" b="1" i="0">
                <a:solidFill>
                  <a:srgbClr val="D4AF37"/>
                </a:solidFill>
                <a:latin typeface="Calibri"/>
              </a:rPr>
              <a:t>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9278784000" y="4663440"/>
            <a:ext cx="42976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Open Research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9278784000" y="4663440"/>
            <a:ext cx="429768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Clean code, reproducible setup, well-documented. Other researchers can build on this work for free.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What comes after this graduation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20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28016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8640" y="1280160"/>
            <a:ext cx="365760" cy="36576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28016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Multi-camera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28016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Stream from N cameras in parallel · cross-camera tracking with re-identification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128016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59" y="1280160"/>
            <a:ext cx="365760" cy="365760"/>
          </a:xfrm>
          <a:prstGeom prst="roundRect">
            <a:avLst/>
          </a:prstGeom>
          <a:solidFill>
            <a:srgbClr val="4ADE80"/>
          </a:solidFill>
          <a:ln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280160"/>
            <a:ext cx="365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128016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Edge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128016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Jetson Orin Nano · Coral TPU · 5 W power budget · 30 FPS sustained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97180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48640" y="2971800"/>
            <a:ext cx="365760" cy="365760"/>
          </a:xfrm>
          <a:prstGeom prst="roundRect">
            <a:avLst/>
          </a:prstGeom>
          <a:solidFill>
            <a:srgbClr val="A78BFA"/>
          </a:solidFill>
          <a:ln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71800"/>
            <a:ext cx="365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Active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97180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Operator corrections feed back into model retraining · weekly improvement cycle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297180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09359" y="2971800"/>
            <a:ext cx="365760" cy="365760"/>
          </a:xfrm>
          <a:prstGeom prst="roundRect">
            <a:avLst/>
          </a:prstGeom>
          <a:solidFill>
            <a:srgbClr val="FBBF24"/>
          </a:solidFill>
          <a:ln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2971800"/>
            <a:ext cx="365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97180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Mobile alerts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97180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Telegram / WhatsApp push for HIGH and CRITICAL events · silent escalation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66344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4663440"/>
            <a:ext cx="365760" cy="36576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63440"/>
            <a:ext cx="365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66344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License 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466344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Add ALPR model · correlate with vehicle detection · stolen-vehicle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663440"/>
            <a:ext cx="5303520" cy="146304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309359" y="4663440"/>
            <a:ext cx="365760" cy="365760"/>
          </a:xfrm>
          <a:prstGeom prst="roundRect">
            <a:avLst/>
          </a:prstGeom>
          <a:solidFill>
            <a:srgbClr val="D4AF37"/>
          </a:solidFill>
          <a:ln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59" y="4663440"/>
            <a:ext cx="365760" cy="3657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59" y="4663440"/>
            <a:ext cx="4389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Audio analysis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59" y="4663440"/>
            <a:ext cx="4389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Scream / glass-break / gunshot sound classification · multi-modal fusion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Lessons Learned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What this project taught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21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3716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Clean architecture pays 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716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8C5D3"/>
                </a:solidFill>
                <a:latin typeface="Calibri"/>
              </a:rPr>
              <a:t>Swapping YOLO11s for a custom model took 1 hour, not 1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1371600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4884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1488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Bugs hide in defaults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1488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8C5D3"/>
                </a:solidFill>
                <a:latin typeface="Calibri"/>
              </a:rPr>
              <a:t>Python truthy/falsy + classes with __len__ is a real footgun.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2148840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92608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26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State machines are the right tool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92608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8C5D3"/>
                </a:solidFill>
                <a:latin typeface="Calibri"/>
              </a:rPr>
              <a:t>Explicit states + transition rules beat implicit flags.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2926080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70332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703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WebSocket &gt; polling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703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8C5D3"/>
                </a:solidFill>
                <a:latin typeface="Calibri"/>
              </a:rPr>
              <a:t>A single bidirectional connection beats 10 polling clients.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0" y="3703320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48056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4805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Cooldowns are essential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48056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8C5D3"/>
                </a:solidFill>
                <a:latin typeface="Calibri"/>
              </a:rPr>
              <a:t>Without 5-s cooldown, threat spam would bury the dashboard.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0" y="4480560"/>
            <a:ext cx="1005840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25780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D4AF37"/>
                </a:solidFill>
                <a:latin typeface="Calibr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257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Persistence = trust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257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0" i="1">
                <a:solidFill>
                  <a:srgbClr val="B8C5D3"/>
                </a:solidFill>
                <a:latin typeface="Calibri"/>
              </a:rPr>
              <a:t>JSON logs + snapshots make the system auditable, not just reactive.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Built on the shoulders of giants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22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Open-source models and libraries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YOLO11s · YOLOv8s · YOLOv8n-Pose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192024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8C5D3"/>
                </a:solidFill>
                <a:latin typeface="Calibri"/>
              </a:rPr>
              <a:t>Ultralytics — state-of-the-art real-time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920240"/>
            <a:ext cx="1033272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42316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ArcFace-R100 (Buffalo-L)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42316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8C5D3"/>
                </a:solidFill>
                <a:latin typeface="Calibri"/>
              </a:rPr>
              <a:t>InsightFace — face recognition SOTA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2423160"/>
            <a:ext cx="1033272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R3D-18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292608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8C5D3"/>
                </a:solidFill>
                <a:latin typeface="Calibri"/>
              </a:rPr>
              <a:t>Facebook AI Research (Kinetics-400)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2926080"/>
            <a:ext cx="1033272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gun.pt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342900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8C5D3"/>
                </a:solidFill>
                <a:latin typeface="Calibri"/>
              </a:rPr>
              <a:t>Shantanukadam — fine-tuned weapon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429000"/>
            <a:ext cx="1033272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FastAPI · Uvicorn · Pydantic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93192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8C5D3"/>
                </a:solidFill>
                <a:latin typeface="Calibri"/>
              </a:rPr>
              <a:t>Modern Python web stack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31920"/>
            <a:ext cx="10332720" cy="9144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PyTorch · ONNX Runtime · CUDA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434840"/>
            <a:ext cx="60350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0" i="1">
                <a:solidFill>
                  <a:srgbClr val="B8C5D3"/>
                </a:solidFill>
                <a:latin typeface="Calibri"/>
              </a:rPr>
              <a:t>Deep learning inference engine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212080"/>
            <a:ext cx="10332720" cy="118872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34924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0">
                <a:solidFill>
                  <a:srgbClr val="D4AF37"/>
                </a:solidFill>
                <a:latin typeface="Calibri"/>
              </a:rPr>
              <a:t>Special thanks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B8C5D3"/>
                </a:solidFill>
                <a:latin typeface="Calibri"/>
              </a:rPr>
              <a:t>to our supervisor Dr. [Supervisor Name] for the guidance,
and to the open-source community for making this work possible.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What we delivered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23 / 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371600"/>
            <a:ext cx="3566160" cy="118872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Real-time 6-class detection on GPU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566160" cy="118872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37160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37160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Recognition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37160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Multi-embedding face recognition with auto-register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566160" cy="118872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37160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137160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Threat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37160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3-model fusion with severity scoring and snapshots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2834640"/>
            <a:ext cx="3566160" cy="118872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83464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Theft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83464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State-machine ownership tracking with forensic alerts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834640"/>
            <a:ext cx="3566160" cy="118872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83464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283464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83464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Modern dark UI with WebSocket real-time push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834640"/>
            <a:ext cx="3566160" cy="1188720"/>
          </a:xfrm>
          <a:prstGeom prst="roundRect">
            <a:avLst/>
          </a:prstGeom>
          <a:solidFill>
            <a:srgbClr val="0F2240"/>
          </a:solidFill>
          <a:ln w="25400">
            <a:solidFill>
              <a:srgbClr val="4ADE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2834640"/>
            <a:ext cx="548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800" b="1" i="0">
                <a:solidFill>
                  <a:srgbClr val="4ADE80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83464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500" b="1" i="0">
                <a:solidFill>
                  <a:srgbClr val="D4AF37"/>
                </a:solidFill>
                <a:latin typeface="Calibri"/>
              </a:rPr>
              <a:t>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2834640"/>
            <a:ext cx="28346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alibri"/>
              </a:rPr>
              <a:t>Clean 4-layer design, fully testable and swappable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572000"/>
            <a:ext cx="11064240" cy="1554480"/>
          </a:xfrm>
          <a:prstGeom prst="roundRect">
            <a:avLst/>
          </a:prstGeom>
          <a:solidFill>
            <a:srgbClr val="1E3A5F"/>
          </a:solidFill>
          <a:ln w="25400">
            <a:solidFill>
              <a:srgbClr val="D4A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800" b="1" i="0">
                <a:solidFill>
                  <a:srgbClr val="D4AF37"/>
                </a:solidFill>
                <a:latin typeface="Calibri"/>
              </a:rPr>
              <a:t>Sentinel is a complete, production-grade, AI-powered surveillance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300" b="0" i="1">
                <a:solidFill>
                  <a:srgbClr val="FFFFFF"/>
                </a:solidFill>
                <a:latin typeface="Calibri"/>
              </a:rPr>
              <a:t>that runs on a single laptop, deploys to any site in minutes, and respects privacy by design.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400" b="1" i="1">
                <a:solidFill>
                  <a:srgbClr val="4ADE80"/>
                </a:solidFill>
                <a:latin typeface="Calibri"/>
              </a:rPr>
              <a:t>Ready for real-world deployment today.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0076" y="91440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0"/>
            <a:ext cx="11247120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7200" b="1" i="0">
                <a:solidFill>
                  <a:srgbClr val="D4AF37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2800" b="0" i="0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4937760"/>
            <a:ext cx="5760720" cy="36576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Sentinel · AI-Powered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B8C5D3"/>
                </a:solidFill>
                <a:latin typeface="Calibri"/>
              </a:rPr>
              <a:t>Team: [Your Name]    Supervisor: [Dr. Supervisor]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/>
            <a:r>
              <a:rPr sz="1200" b="0" i="1">
                <a:solidFill>
                  <a:srgbClr val="B8C5D3"/>
                </a:solidFill>
                <a:latin typeface="Calibri"/>
              </a:rPr>
              <a:t>[Faculty · Department · 2025]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3200" b="1" i="0">
                <a:solidFill>
                  <a:srgbClr val="D4AF37"/>
                </a:solidFill>
                <a:latin typeface="Calibri"/>
              </a:rPr>
              <a:t>Backup · Detailed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777240"/>
            <a:ext cx="9601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1">
                <a:solidFill>
                  <a:srgbClr val="B8C5D3"/>
                </a:solidFill>
                <a:latin typeface="Calibri"/>
              </a:rPr>
              <a:t>For technical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B8C5D3"/>
                </a:solidFill>
                <a:latin typeface="Calibri"/>
              </a:rPr>
              <a:t>Sentinel · Smart Surveillance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/>
            <a:r>
              <a:rPr sz="1000" b="0" i="1">
                <a:solidFill>
                  <a:srgbClr val="B8C5D3"/>
                </a:solidFill>
                <a:latin typeface="Calibri"/>
              </a:rPr>
              <a:t>25 / 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D4AF37"/>
                </a:solidFill>
                <a:latin typeface="Calibri"/>
              </a:rPr>
              <a:t>Code structure — Clean Architecture in practice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src/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9968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├── domain/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31136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entities/        # Camera, Detection, Face, Threat, Item (pure 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32304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└── interfaces/      # StreamRepo, DetectionRepo, FaceRepo (abstract)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├── usecases/             # Orchestrate business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834640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camera_stream.py # RTSP →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35808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detection.py     # YOLO inference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236976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face.py          # Recognition + auto-register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438144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threat.py        # Multi-model fusion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39312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└── item_tracking.py # State machine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├── adapters/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rtsp/            # OpenCV reader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42816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yolo/            # 3 YOLO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443983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insightface/     # Face recognition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645152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torch/           # R3D-18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46320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tracking/        # IoU + ownership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47488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└── storage/         # JSON persistence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48656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├── presentation/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9824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api/             # FastAPI factory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50992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routes/          # 5 routers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852160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realtime/        # WebSocket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053328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├── templates/       # Jinja2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254496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B8C5D3"/>
                </a:solidFill>
                <a:latin typeface="Consolas"/>
              </a:rPr>
              <a:t>│   └── static/          # CSS + JS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55664"/>
            <a:ext cx="1051560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onsolas"/>
              </a:rPr>
              <a:t>└── config/              # Pydantic settings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